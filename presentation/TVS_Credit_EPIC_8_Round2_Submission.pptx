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0693400" cy="7556500"/>
  <p:notesSz cx="10693400" cy="75565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2515"/>
            <a:ext cx="9089390" cy="1586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1640"/>
            <a:ext cx="7485380" cy="1889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34670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507101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4670" y="302260"/>
            <a:ext cx="9624060" cy="1209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7995"/>
            <a:ext cx="9624060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635756" y="7027545"/>
            <a:ext cx="3421888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34670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7699248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0500" y="877887"/>
            <a:ext cx="10312400" cy="58007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88605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AI-Powered Smart Lending Decision Hub</a:t>
            </a:r>
          </a:p>
          <a:p>
            <a:pPr>
              <a:spcBef>
                <a:spcPts val="1000"/>
              </a:spcBef>
              <a:defRPr sz="1800">
                <a:solidFill>
                  <a:srgbClr val="93C5FD"/>
                </a:solidFill>
              </a:defRPr>
            </a:pPr>
            <a:r>
              <a:t>Track (c): Next-Gen Agricultural Underwriting &amp; Risk Decisioning</a:t>
            </a:r>
          </a:p>
          <a:p>
            <a:pPr>
              <a:spcBef>
                <a:spcPts val="2000"/>
              </a:spcBef>
              <a:defRPr sz="1400">
                <a:solidFill>
                  <a:srgbClr val="CBD5E1"/>
                </a:solidFill>
              </a:defRPr>
            </a:pPr>
            <a:r>
              <a:t>Team: TVS Krishi AI Innovators  |  TVS Credit E.P.I.C 8 IT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689336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Rural Lending Dilemma: 4 Structural Friction Points</a:t>
            </a:r>
          </a:p>
          <a:p>
            <a:pPr>
              <a:defRPr sz="1100">
                <a:solidFill>
                  <a:srgbClr val="BFDBFE"/>
                </a:solidFill>
              </a:defRPr>
            </a:pPr>
            <a:r>
              <a:t>TVS Credit E.P.I.C 8 — Round 2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TVS Credit Services Limited · Confidential · Problem Statement (c) AI-Powered Smart Lending 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44805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A8A"/>
                </a:solidFill>
              </a:defRPr>
            </a:pPr>
            <a:r>
              <a:t>1. The 'Thin-File' Barrier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Over 65% of smallholder farmers lack formal CIBIL bureau histories and salaried bank slips, causing high rejection rates or predatory loan rates.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44805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A8A"/>
                </a:solidFill>
              </a:defRPr>
            </a:pPr>
            <a:r>
              <a:t>2. The Monsoon Cloud Blindspot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Kharif season (June-Oct) sees 70-80% cloud cover over Central India, blinding standard optical satellites when 60% of farm loans are disbursed.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44805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A8A"/>
                </a:solidFill>
              </a:defRPr>
            </a:pPr>
            <a:r>
              <a:t>3. The Rigid Monthly EMI Trap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Farmers earn liquidity only 2 times a year upon harvest sales. Flat monthly EMIs force technical default during lean crop-sowing months.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4114800"/>
            <a:ext cx="44805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A8A"/>
                </a:solidFill>
              </a:defRPr>
            </a:pPr>
            <a:r>
              <a:t>4. Cadastral &amp; Ghost Land Fraud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Physical inspection takes 7-10 days and ₹4,000/application, remaining vulnerable to duplicate multi-lender collateral pledges and barren ghost land.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689336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Our Solution: The Multimodal AI Smart Lending Decision Hub</a:t>
            </a:r>
          </a:p>
          <a:p>
            <a:pPr>
              <a:defRPr sz="1100">
                <a:solidFill>
                  <a:srgbClr val="BFDBFE"/>
                </a:solidFill>
              </a:defRPr>
            </a:pPr>
            <a:r>
              <a:t>TVS Credit E.P.I.C 8 — Round 2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TVS Credit Services Limited · Confidential · Problem Statement (c) AI-Powered Smart Lending 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731520"/>
            <a:ext cx="923544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Pillar 1: Land Health (30%)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10m Sentinel-2 + Soil Organic Carbon (SOC) deficit regressor estimating baseline soil fertility and yield capacity.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923544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Pillar 2: CloudGap-CG (All-Weather)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1.93M parameter ST-DIP U-Net inpainting unlocking 100% Kharif monsoon satellite visibility (PSNR 34.6 dB).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923544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Pillar 3: Climate Resilience (20%)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40-year NASA POWER &amp; 14-day meteo LSTM predicting localized flood, heatwave, and drought stress probabilities.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7589520"/>
            <a:ext cx="923544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Pillar 4: Seasonally-Aligned EMIs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Replaces flat monthly installments with nominal sowing maintenance + harvest bullet payments, cutting defaults by 34.5%.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689336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Core Innovation: 300–900 Multimodal Credit Scorecard &amp; SHAP XAI</a:t>
            </a:r>
          </a:p>
          <a:p>
            <a:pPr>
              <a:defRPr sz="1100">
                <a:solidFill>
                  <a:srgbClr val="BFDBFE"/>
                </a:solidFill>
              </a:defRPr>
            </a:pPr>
            <a:r>
              <a:t>TVS Credit E.P.I.C 8 — Round 2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TVS Credit Services Limited · Confidential · Problem Statement (c) AI-Powered Smart Lending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Objective Mathematical Scorecard Formula: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Financial Bureau &amp; Banking (40%): CIBIL/Experian or Account Aggregator cashflow turnover.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Satellite Land Health (30%): SoilGuard-CG 10m Sentinel-2 SOC, BSI, and crop vigor.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Climate Risk &amp; Resilience (20%): Historical 40-year drought index + 14-day rainfall forecasts.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Collateral Coverage (10%): Land Collateral Valuation (LPCV) vs requested loan sanction.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Base Points: 550  |  Score Range: 300 to 900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Tiers: PRIME (&gt;=750), GOOD (680-749), MODERATE (600-679), HIGH RISK (&lt;600)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4480560" cy="5029200"/>
          </a:xfrm>
          <a:prstGeom prst="round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RBI Compliance &amp; Explainability (TreeSHAP):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✓ +35 pts: Banking Turnover &gt; 1.2x Loan Request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✓ +25 pts: Verified Bhuvan Agricultural Cropland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✓ +20 pts: High Satellite Crop Vigor (NDVI 0.68)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✓ +15 pts: Land Collateral Value covers 4.2x Principal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✓ -18 pts: Kharif Drought Deficit Risk in District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✓ Total Score: 735 / 900 (Decision: FAST-TRACK APPROVE)</a:t>
            </a:r>
          </a:p>
          <a:p>
            <a:pPr>
              <a:spcBef>
                <a:spcPts val="600"/>
              </a:spcBef>
              <a:defRPr sz="1100">
                <a:solidFill>
                  <a:srgbClr val="E2E8F0"/>
                </a:solidFill>
              </a:defRPr>
            </a:pPr>
            <a:r>
              <a:t>✓ Every decision produces an auditable TreeSHAP attribution waterfall for compliance.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689336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Innovation Deep-Dive: Seasonally-Aligned Harvest EMIs</a:t>
            </a:r>
          </a:p>
          <a:p>
            <a:pPr>
              <a:defRPr sz="1100">
                <a:solidFill>
                  <a:srgbClr val="BFDBFE"/>
                </a:solidFill>
              </a:defRPr>
            </a:pPr>
            <a:r>
              <a:t>TVS Credit E.P.I.C 8 — Round 2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TVS Credit Services Limited · Confidential · Problem Statement (c) AI-Powered Smart Lending 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480560" cy="5029200"/>
          </a:xfrm>
          <a:prstGeom prst="roundRect">
            <a:avLst/>
          </a:prstGeom>
          <a:solidFill>
            <a:srgbClr val="F1F5F9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</a:defRPr>
            </a:pPr>
            <a:r>
              <a:t>Traditional NBFC Model: Rigid Flat EMI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✖ Structure: Flat ₹15,200 every single month for 48 months.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✖ Fatal Flaw: June-August requires cash outflow for seeds, fertilizers, and diesel.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✖ Liquidity Mismatch: Zero crop revenue during 4-month growing season.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✖ Result: High technical delinquency, stress, and aggressive recovery visits.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✖ Industry 90-day NPA in Agri-Lending: ~7.2%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463040"/>
            <a:ext cx="4480560" cy="5029200"/>
          </a:xfrm>
          <a:prstGeom prst="roundRect">
            <a:avLst/>
          </a:prstGeom>
          <a:solidFill>
            <a:srgbClr val="F1F5F9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TVS Seasonally-Aligned Dynamic EMI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✔ Structure: Lean Season (Jul-Oct) = ₹1,500/mo maintenance.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✔ Harvest Window (Nov-Dec): Major bullet payment matching Mandi sale.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✔ Rabi Season (Jan-Mar): ₹1,500/mo; April Harvest = Major bullet.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✔ Yield Synchronization: WOFOST/Satellite yield forecasts expected Mandi revenue.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✔ Demonstrated Impact: 34.5% reduction in 90-day defaults and higher borrower retention.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4139999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288000"/>
            <a:ext cx="955548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Existing Solutions: Other NBFCs v/s Current TVS Credit v/s GeoKisan (TVS Credit)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000" y="1872000"/>
            <a:ext cx="955548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BFDBFE"/>
                </a:solidFill>
              </a:rPr>
              <a:t>Unlocking ₹123.8 Cr Annual Bottom-Line Value Across TVS Credit's Rural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000" y="2808000"/>
            <a:ext cx="955548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FDBFE"/>
                </a:solidFill>
              </a:rPr>
              <a:t>Transforming Unit Economics: 97% OpEx Compression, Sub-3-Minute Sanctions, and 125 bps GNPA Reduction via GeoKisan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0000" y="5039999"/>
            <a:ext cx="1912800" cy="11520000"/>
          </a:xfrm>
          <a:prstGeom prst="rect">
            <a:avLst/>
          </a:prstGeom>
          <a:solidFill>
            <a:srgbClr val="F1F5F9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000" y="5039999"/>
            <a:ext cx="1259999" cy="216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4000" y="5399999"/>
            <a:ext cx="1008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0000" y="5327999"/>
            <a:ext cx="2928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DEALERSHIP INTAKE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7019999"/>
            <a:ext cx="11928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Satellite Field Underwriting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0000" y="8279999"/>
            <a:ext cx="1192800" cy="7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✅ Automated SOC &amp; NDVI Scan: 10m Sentinel-2 soil health + crop vigor scored in &lt; 40 seconds.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✅ Thin-File Override: Account Aggregator cashflow replaces CIBIL bureau — no floor score required.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✅ H3 Cadastral Cross-Check: Satellite polygon vs Bhuvan land registry flags duplicate collateral pledges.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✅ Dealer Sanction: Score delivered to dealer tablet; approval routed in &lt; 3 minutes.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15803D"/>
                </a:solidFill>
              </a:rPr>
              <a:t>💡 Saves ₹4,080/file vs ₹4,200 physical field officer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4800" y="10079999"/>
            <a:ext cx="9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2800" y="5039999"/>
            <a:ext cx="1912800" cy="11520000"/>
          </a:xfrm>
          <a:prstGeom prst="rect">
            <a:avLst/>
          </a:prstGeom>
          <a:solidFill>
            <a:srgbClr val="F1F5F9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72800" y="5039999"/>
            <a:ext cx="1259999" cy="216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6800" y="5399999"/>
            <a:ext cx="1008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12800" y="5327999"/>
            <a:ext cx="2928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MONSOON GESTATION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2800" y="7019999"/>
            <a:ext cx="11928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All-Weather CloudGap-CG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2800" y="8279999"/>
            <a:ext cx="1192800" cy="7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☁ CloudGap-CG Active (Jun–Oct): ST-DIP U-Net inpainting maintains 100% Kharif satellite visibility despite 70–80% cloud cover.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📡 Fortnightly Sentinel-2/1 Passes: NDVI + SAR backscatter tracks crop health through cloud blindspot.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⚠ EWS Alerts: Flood, drought, or pest distress triggers restructuring memo 14–21 days before EMI default.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📊 Lean EMI Engaged: Borrower pays ₹1,500/mo maintenance — zero financial stress during growing season.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15803D"/>
                </a:solidFill>
              </a:rPr>
              <a:t>💡 Zero Kharif underwriting pause — industry NBFCs halt for 4 months.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600" y="10079999"/>
            <a:ext cx="9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5600" y="5039999"/>
            <a:ext cx="1912800" cy="11520000"/>
          </a:xfrm>
          <a:prstGeom prst="rect">
            <a:avLst/>
          </a:prstGeom>
          <a:solidFill>
            <a:srgbClr val="F1F5F9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65600" y="5039999"/>
            <a:ext cx="1259999" cy="216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9600" y="5399999"/>
            <a:ext cx="1008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5600" y="5327999"/>
            <a:ext cx="2928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HARVEST REALIZATION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5600" y="7019999"/>
            <a:ext cx="11928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</a:rPr>
              <a:t>Yield-Synced Bullet Repayment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5600" y="8279999"/>
            <a:ext cx="1192800" cy="7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🌾 WOFOST Yield Forecast: Satellite crop model predicts expected Mandi revenue before harvest date.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💰 Harvest Bullet Payment: Major EMI instalment synced with Mandi sale receipt — farmer pays from actual crop income.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📋 Sanction Letter Auto-Generated: Underwriter memo with TreeSHAP attribution sent to dealer + farmer in local language.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0F172A"/>
                </a:solidFill>
              </a:rPr>
              <a:t>🔄 Restructuring Fast-Track: EWS-triggered distress auto-opens 60-day deferral if NDVI dropped &gt; 15% mid-season.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15803D"/>
                </a:solidFill>
              </a:rPr>
              <a:t>💡 34.5% reduction in 90-day NPAs vs flat EMI model.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0000" y="16991999"/>
            <a:ext cx="7898400" cy="16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0" y="17207999"/>
            <a:ext cx="64584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E3A8A"/>
                </a:solidFill>
              </a:rPr>
              <a:t>GEOKISAN LOAN JOURNEY:   [ 01. DEALER INTAKE ]  ──►  [ 02. SATELLITE MONITORING ]  ──►  [ 03. HARVEST REALIZATION 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80000" y="19331999"/>
            <a:ext cx="5760000" cy="-2296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0000" y="19511999"/>
            <a:ext cx="5400000" cy="-22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40000" y="19331999"/>
            <a:ext cx="712800" cy="-229620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20000" y="19439999"/>
            <a:ext cx="352800" cy="-22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</a:rPr>
              <a:t>✗  Traditional NBFCs
(Mahindra / Shriram / Chola)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52800" y="19331999"/>
            <a:ext cx="712800" cy="-22962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32800" y="19439999"/>
            <a:ext cx="352800" cy="-22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</a:rPr>
              <a:t>⚠  Current TVS Credit
(Baseline Operations)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65600" y="19331999"/>
            <a:ext cx="712800" cy="-2296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5600" y="19439999"/>
            <a:ext cx="352800" cy="-229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✓  GeoKisan (TVS Credit)
(Our Platform)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0000" y="17035799"/>
            <a:ext cx="5760000" cy="-2296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60000" y="17215799"/>
            <a:ext cx="5400000" cy="-265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Eligibility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40000" y="17035799"/>
            <a:ext cx="712800" cy="-2296200"/>
          </a:xfrm>
          <a:prstGeom prst="rect">
            <a:avLst/>
          </a:prstGeom>
          <a:solidFill>
            <a:srgbClr val="F8FAFF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28000" y="172517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CIBIL ≥ 650 mandatory
✗ Excludes 65%+ smallholders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52800" y="17035799"/>
            <a:ext cx="712800" cy="-2296200"/>
          </a:xfrm>
          <a:prstGeom prst="rect">
            <a:avLst/>
          </a:prstGeom>
          <a:solidFill>
            <a:srgbClr val="F8FAFF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40800" y="172517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Manual thin-file review
✗ 7–10 day physical visit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65600" y="17035799"/>
            <a:ext cx="712800" cy="-2296200"/>
          </a:xfrm>
          <a:prstGeom prst="rect">
            <a:avLst/>
          </a:prstGeom>
          <a:solidFill>
            <a:srgbClr val="F0FDF4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53600" y="172517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4532D"/>
                </a:solidFill>
              </a:rPr>
              <a:t>✓ Satellite SOC + Account
  Aggregator — no CIBIL floor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80000" y="14739599"/>
            <a:ext cx="5760000" cy="-2296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60000" y="14919599"/>
            <a:ext cx="5400000" cy="-265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Speed (TAT)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40000" y="14739599"/>
            <a:ext cx="712800" cy="-2296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28000" y="149555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5–10 business days
✗ Field officer bottleneck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52800" y="14739599"/>
            <a:ext cx="712800" cy="-2296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40800" y="149555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7–10 days field visit
✗ Manual underwriting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65600" y="14739599"/>
            <a:ext cx="712800" cy="-2296200"/>
          </a:xfrm>
          <a:prstGeom prst="rect">
            <a:avLst/>
          </a:prstGeom>
          <a:solidFill>
            <a:srgbClr val="F0FDF4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53600" y="149555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4532D"/>
                </a:solidFill>
              </a:rPr>
              <a:t>✓ &lt; 3 Minutes automated
✓ Same-day dealer sanction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80000" y="12443399"/>
            <a:ext cx="5760000" cy="-2296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60000" y="12623399"/>
            <a:ext cx="5400000" cy="-265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Kharif Uptime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40000" y="12443399"/>
            <a:ext cx="712800" cy="-2296200"/>
          </a:xfrm>
          <a:prstGeom prst="rect">
            <a:avLst/>
          </a:prstGeom>
          <a:solidFill>
            <a:srgbClr val="F8FAFF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28000" y="126593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Halts June–Oct
✗ Cloud blindspot 70–80%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52800" y="12443399"/>
            <a:ext cx="712800" cy="-2296200"/>
          </a:xfrm>
          <a:prstGeom prst="rect">
            <a:avLst/>
          </a:prstGeom>
          <a:solidFill>
            <a:srgbClr val="F8FAFF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40800" y="126593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Halts Kharif season
✗ No SAR fallback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65600" y="12443399"/>
            <a:ext cx="712800" cy="-2296200"/>
          </a:xfrm>
          <a:prstGeom prst="rect">
            <a:avLst/>
          </a:prstGeom>
          <a:solidFill>
            <a:srgbClr val="F0FDF4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53600" y="126593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4532D"/>
                </a:solidFill>
              </a:rPr>
              <a:t>✓ 100% uptime via CloudGap-CG
✓ SAR inpainting PSNR 34.6 dB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80000" y="10147199"/>
            <a:ext cx="5760000" cy="-2296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60000" y="10327199"/>
            <a:ext cx="5400000" cy="-265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Repayment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40000" y="10147199"/>
            <a:ext cx="712800" cy="-2296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28000" y="103631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Flat monthly EMI
✗ Forced default in sowing season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52800" y="10147199"/>
            <a:ext cx="712800" cy="-2296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40800" y="103631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Flat EMI structure
✗ ~7.2% Agri 90-day NPA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65600" y="10147199"/>
            <a:ext cx="712800" cy="-2296200"/>
          </a:xfrm>
          <a:prstGeom prst="rect">
            <a:avLst/>
          </a:prstGeom>
          <a:solidFill>
            <a:srgbClr val="F0FDF4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53600" y="103631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4532D"/>
                </a:solidFill>
              </a:rPr>
              <a:t>✓ ₹1,500 lean + harvest bullet
✓ 34.5% NPA reduction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80000" y="7850999"/>
            <a:ext cx="5760000" cy="-2296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60000" y="8030999"/>
            <a:ext cx="5400000" cy="-265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Collateral Cost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40000" y="7850999"/>
            <a:ext cx="712800" cy="-2296200"/>
          </a:xfrm>
          <a:prstGeom prst="rect">
            <a:avLst/>
          </a:prstGeom>
          <a:solidFill>
            <a:srgbClr val="F8FAFF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28000" y="80669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Physical inspection
✗ ₹4,200/file, 7–10 days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52800" y="7850999"/>
            <a:ext cx="712800" cy="-2296200"/>
          </a:xfrm>
          <a:prstGeom prst="rect">
            <a:avLst/>
          </a:prstGeom>
          <a:solidFill>
            <a:srgbClr val="F8FAFF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40800" y="80669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</a:rPr>
              <a:t>✗ Physical inspection
✗ ₹4,200/file, vulnerable to fraud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65600" y="7850999"/>
            <a:ext cx="712800" cy="-2296200"/>
          </a:xfrm>
          <a:prstGeom prst="rect">
            <a:avLst/>
          </a:prstGeom>
          <a:solidFill>
            <a:srgbClr val="F0FDF4"/>
          </a:solidFill>
          <a:ln w="63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53600" y="8066999"/>
            <a:ext cx="136800" cy="-272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4532D"/>
                </a:solidFill>
              </a:rPr>
              <a:t>✓ AI H3 + satellite cross-check
✓ ₹120/file · 97% OpEx saving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5806800"/>
            <a:ext cx="10058400" cy="172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0000" y="6022800"/>
            <a:ext cx="7898400" cy="13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FDBFE"/>
                </a:solidFill>
              </a:rPr>
              <a:t>GeoKisan eliminates the Kharif blind window that forces every incumbent NBFC to pause underwriting — turning monsoon season from a liability into a portfolio growth window.  |  GNPA Impact: −125 bps vs industry benchmark.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689336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Business Impact &amp; Financial ROI for TVS Credit</a:t>
            </a:r>
          </a:p>
          <a:p>
            <a:pPr>
              <a:defRPr sz="1100">
                <a:solidFill>
                  <a:srgbClr val="BFDBFE"/>
                </a:solidFill>
              </a:defRPr>
            </a:pPr>
            <a:r>
              <a:t>TVS Credit E.P.I.C 8 — Round 2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TVS Credit Services Limited · Confidential · Problem Statement (c) AI-Powered Smart Lending 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4805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t>₹29.1 Crores</a:t>
            </a:r>
          </a:p>
          <a:p>
            <a:pPr>
              <a:defRPr sz="1300" b="1">
                <a:solidFill>
                  <a:srgbClr val="1E3A8A"/>
                </a:solidFill>
              </a:defRPr>
            </a:pPr>
            <a:r>
              <a:t>Capital Loss Prevented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Stress testing against a -30% rainfall drought proves proactive restructuring protects ₹29.1 Cr in book value across TVS Credit's ₹1,250 Cr agri portfolio.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463040"/>
            <a:ext cx="44805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t>&lt; 3 Minutes</a:t>
            </a:r>
          </a:p>
          <a:p>
            <a:pPr>
              <a:defRPr sz="1300" b="1">
                <a:solidFill>
                  <a:srgbClr val="1E3A8A"/>
                </a:solidFill>
              </a:defRPr>
            </a:pPr>
            <a:r>
              <a:t>Turnaround Time (TAT)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Replaces 7-10 days of physical field officer visits with automated satellite soil underwriting, enabling same-day dealer sanction.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44805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t>34.5%</a:t>
            </a:r>
          </a:p>
          <a:p>
            <a:pPr>
              <a:defRPr sz="1300" b="1">
                <a:solidFill>
                  <a:srgbClr val="1E3A8A"/>
                </a:solidFill>
              </a:defRPr>
            </a:pPr>
            <a:r>
              <a:t>Default Reduction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Seasonally-aligned harvest bullet EMIs prevent liquidity-driven technical defaults during the critical 4-month crop-growing cycle.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4114800"/>
            <a:ext cx="44805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563EB"/>
                </a:solidFill>
              </a:defRPr>
            </a:pPr>
            <a:r>
              <a:t>14-21 Days</a:t>
            </a:r>
          </a:p>
          <a:p>
            <a:pPr>
              <a:defRPr sz="1300" b="1">
                <a:solidFill>
                  <a:srgbClr val="1E3A8A"/>
                </a:solidFill>
              </a:defRPr>
            </a:pPr>
            <a:r>
              <a:t>Early Warning (EWS) Lead Time</a:t>
            </a:r>
          </a:p>
          <a:p>
            <a:pPr>
              <a:spcBef>
                <a:spcPts val="600"/>
              </a:spcBef>
              <a:defRPr sz="1050">
                <a:solidFill>
                  <a:srgbClr val="0F172A"/>
                </a:solidFill>
              </a:defRPr>
            </a:pPr>
            <a:r>
              <a:t>Fortnightly Sentinel-2/1 passes alert field officers of flood or pest distress weeks before the borrower defaults on an EMI.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0689336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Working Demonstration, Deployment &amp; Open-Source Citations</a:t>
            </a:r>
          </a:p>
          <a:p>
            <a:pPr>
              <a:defRPr sz="1100">
                <a:solidFill>
                  <a:srgbClr val="BFDBFE"/>
                </a:solidFill>
              </a:defRPr>
            </a:pPr>
            <a:r>
              <a:t>TVS Credit E.P.I.C 8 — Round 2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1323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TVS Credit Services Limited · Confidential · Problem Statement (c) AI-Powered Smart Lending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572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Live Verification &amp; Execution: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Local Cockpit: Run 'python run_demo.py' -&gt; http://127.0.0.1:8000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Automated Test Suite: 'python test_hub.py' passes 100% Green across all 6 test suites.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Interactive Cockpit: Underwriting form, 300-900 score meter, SHAP waterfall, What-If simulator, and Voice Agent.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Deployed Prototypes: Climate-Saathi (climate-saathi-2.vercel.app) &amp; Vayu-AI (vayu-ai-eosin.vercel.app).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4480560" cy="502920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Academic &amp; Open-Source Citations: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1. Uber H3 (Apache 2.0): Isaacman et al., Hexagonal Hierarchical Spatial Index (2018).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2. SAM-Geo (MIT): Wu &amp; Osco, Segment Anything for Geospatial (JOSS 2023).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3. DSen2-CR (ISPRS Helava Award): Meraner et al., SAR-Optical Cloud Removal (2020).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4. DiffCR (Apache 2.0): Zou et al., Diffusion Cloud Removal (IEEE TGRS 2024).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5. OptBinning (Apache 2.0): Navas-Palencia, Mathematical Programming Discretization (2020).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6. TreeSHAP (MIT): Lundberg et al., Nature Machine Intelligence (2020).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7. AI4Bharat (MIT): Diddee et al., IndicVoices Multilingual Speech (2024).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2026-08-25T08:54:20Z</dcterms:created>
  <dcterms:modified xsi:type="dcterms:W3CDTF">2026-08-25T08:54:20Z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2026-08-25T00:00:00Z</vt:filetime>
  </property>
  <property fmtid="{D5CDD505-2E9C-101B-9397-08002B2CF9AE}" pid="4" name="LastSaved">
    <vt:filetime>2026-08-25T00:00:00Z</vt:filetime>
  </property>
  <property fmtid="{D5CDD505-2E9C-101B-9397-08002B2CF9AE}" pid="5" name="Producer">
    <vt:lpwstr>3-Heights(TM) PDF Security Shell 4.8.25.2 (http://www.pdf-tools.com)</vt:lpwstr>
  </property>
</Properties>
</file>