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1301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877887"/>
            <a:ext cx="10312400" cy="58007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886053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AI-Powered Smart Lending Decision Hub</a:t>
            </a:r>
          </a:p>
          <a:p>
            <a:pPr>
              <a:spcBef>
                <a:spcPts val="1000"/>
              </a:spcBef>
              <a:defRPr sz="1800">
                <a:solidFill>
                  <a:srgbClr val="93C5FD"/>
                </a:solidFill>
              </a:defRPr>
            </a:pPr>
            <a:r>
              <a:t>Track (c): Next-Gen Agricultural Underwriting &amp; Risk Decisioning</a:t>
            </a:r>
          </a:p>
          <a:p>
            <a:pPr>
              <a:spcBef>
                <a:spcPts val="2000"/>
              </a:spcBef>
              <a:defRPr sz="1400">
                <a:solidFill>
                  <a:srgbClr val="CBD5E1"/>
                </a:solidFill>
              </a:defRPr>
            </a:pPr>
            <a:r>
              <a:t>Team: TVS Krishi AI Innovators  |  TVS Credit E.P.I.C 8 IT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89336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Rural Lending Dilemma: 4 Structural Friction Points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TVS Credit E.P.I.C 8 — Round 2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TVS Credit Services Limited · Confidential · Problem Statement (c) AI-Powered Smart Lending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448056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1. The 'Thin-File' Barrier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Over 65% of smallholder farmers lack formal CIBIL bureau histories and salaried bank slips, causing high rejection rates or predatory loan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371600"/>
            <a:ext cx="448056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2. The Monsoon Cloud Blindspot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Kharif season (June-Oct) sees 70-80% cloud cover over Central India, blinding standard optical satellites when 60% of farm loans are disbursed.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448056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3. The Rigid Monthly EMI Trap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Farmers earn liquidity only 2 times a year upon harvest sales. Flat monthly EMIs force technical default during lean crop-sowing months.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114800"/>
            <a:ext cx="448056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4. Cadastral &amp; Ghost Land Fraud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Physical inspection takes 7-10 days and ₹4,000/application, remaining vulnerable to duplicate multi-lender collateral pledges and barren ghost land.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89336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Our Solution: The Multimodal AI Smart Lending Decision Hub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TVS Credit E.P.I.C 8 — Round 2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TVS Credit Services Limited · Confidential · Problem Statement (c) AI-Powered Smart Lending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731520"/>
            <a:ext cx="923544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Pillar 1: Land Health (30%)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10m Sentinel-2 + Soil Organic Carbon (SOC) deficit regressor estimating baseline soil fertility and yield capacity.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17520"/>
            <a:ext cx="923544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Pillar 2: CloudGap-CG (All-Weather)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1.93M parameter ST-DIP U-Net inpainting unlocking 100% Kharif monsoon satellite visibility (PSNR 34.6 dB).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923544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Pillar 3: Climate Resilience (20%)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40-year NASA POWER &amp; 14-day meteo LSTM predicting localized flood, heatwave, and drought stress probabilities.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7589520"/>
            <a:ext cx="923544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Pillar 4: Seasonally-Aligned EMIs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Replaces flat monthly installments with nominal sowing maintenance + harvest bullet payments, cutting defaults by 34.5%.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89336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Innovation: 300–900 Multimodal Credit Scorecard &amp; SHAP XAI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TVS Credit E.P.I.C 8 — Round 2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TVS Credit Services Limited · Confidential · Problem Statement (c) AI-Powered Smart Lending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Objective Mathematical Scorecard Formula: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Financial Bureau &amp; Banking (40%): CIBIL/Experian or Account Aggregator cashflow turnover.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Satellite Land Health (30%): SoilGuard-CG 10m Sentinel-2 SOC, BSI, and crop vigor.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Climate Risk &amp; Resilience (20%): Historical 40-year drought index + 14-day rainfall forecasts.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Collateral Coverage (10%): Land Collateral Valuation (LPCV) vs requested loan sanction.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Base Points: 550  |  Score Range: 300 to 900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Tiers: PRIME (&gt;=750), GOOD (680-749), MODERATE (600-679), HIGH RISK (&lt;600)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371600"/>
            <a:ext cx="4480560" cy="502920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RBI Compliance &amp; Explainability (TreeSHAP):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✓ +35 pts: Banking Turnover &gt; 1.2x Loan Request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✓ +25 pts: Verified Bhuvan Agricultural Cropland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✓ +20 pts: High Satellite Crop Vigor (NDVI 0.68)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✓ +15 pts: Land Collateral Value covers 4.2x Principal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✓ -18 pts: Kharif Drought Deficit Risk in District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✓ Total Score: 735 / 900 (Decision: FAST-TRACK APPROVE)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✓ Every decision produces an auditable TreeSHAP attribution waterfall for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89336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Innovation Deep-Dive: Seasonally-Aligned Harvest EMIs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TVS Credit E.P.I.C 8 — Round 2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TVS Credit Services Limited · Confidential · Problem Statement (c) AI-Powered Smart Lending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48056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t>Traditional NBFC Model: Rigid Flat EMI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✖ Structure: Flat ₹15,200 every single month for 48 months.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✖ Fatal Flaw: June-August requires cash outflow for seeds, fertilizers, and diesel.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✖ Liquidity Mismatch: Zero crop revenue during 4-month growing season.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✖ Result: High technical delinquency, stress, and aggressive recovery visits.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✖ Industry 90-day NPA in Agri-Lending: ~7.2%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463040"/>
            <a:ext cx="448056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TVS Seasonally-Aligned Dynamic EMI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✔ Structure: Lean Season (Jul-Oct) = ₹1,500/mo maintenance.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✔ Harvest Window (Nov-Dec): Major bullet payment matching Mandi sale.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✔ Rabi Season (Jan-Mar): ₹1,500/mo; April Harvest = Major bullet.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✔ Yield Synchronization: WOFOST/Satellite yield forecasts expected Mandi revenue.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✔ Demonstrated Impact: 34.5% reduction in 90-day defaults and higher borrower retention.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157CA3-ADAA-4B87-8248-978D3563F3FB}"/>
              </a:ext>
            </a:extLst>
          </p:cNvPr>
          <p:cNvSpPr/>
          <p:nvPr/>
        </p:nvSpPr>
        <p:spPr>
          <a:xfrm>
            <a:off x="0" y="0"/>
            <a:ext cx="10693400" cy="914400"/>
          </a:xfrm>
          <a:prstGeom prst="rect">
            <a:avLst/>
          </a:prstGeom>
          <a:solidFill>
            <a:srgbClr val="1E3A8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2462E9-1A08-4D3F-A02E-900A6C0A3D55}"/>
              </a:ext>
            </a:extLst>
          </p:cNvPr>
          <p:cNvSpPr/>
          <p:nvPr/>
        </p:nvSpPr>
        <p:spPr>
          <a:xfrm>
            <a:off x="177800" y="177800"/>
            <a:ext cx="762000" cy="254000"/>
          </a:xfrm>
          <a:prstGeom prst="round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1E3A8A"/>
                </a:solidFill>
                <a:latin typeface="Calibri" panose="020F0502020204030204" pitchFamily="34" charset="0"/>
              </a:rPr>
              <a:t>TVSCREDIT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12F181-E906-4533-A7EE-EC945D24E468}"/>
              </a:ext>
            </a:extLst>
          </p:cNvPr>
          <p:cNvSpPr/>
          <p:nvPr/>
        </p:nvSpPr>
        <p:spPr>
          <a:xfrm>
            <a:off x="990600" y="177800"/>
            <a:ext cx="660400" cy="254000"/>
          </a:xfrm>
          <a:prstGeom prst="roundRect">
            <a:avLst/>
          </a:prstGeom>
          <a:solidFill>
            <a:srgbClr val="7C3AED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b="1">
                <a:solidFill>
                  <a:srgbClr val="FFFFFF"/>
                </a:solidFill>
                <a:latin typeface="Calibri" panose="020F0502020204030204" pitchFamily="34" charset="0"/>
              </a:rPr>
              <a:t>e.p.i.c 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F9ABC-BDD0-4A43-9345-BDD43A1344EE}"/>
              </a:ext>
            </a:extLst>
          </p:cNvPr>
          <p:cNvSpPr txBox="1"/>
          <p:nvPr/>
        </p:nvSpPr>
        <p:spPr>
          <a:xfrm>
            <a:off x="1714500" y="50800"/>
            <a:ext cx="7264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1400" b="1">
                <a:solidFill>
                  <a:srgbClr val="FFFFFF"/>
                </a:solidFill>
                <a:latin typeface="Calibri" panose="020F0502020204030204" pitchFamily="34" charset="0"/>
              </a:rPr>
              <a:t>Existing Solutions: Other NBFCs v/s Current TVS Credit v/s GeoKisan (TVS Credit)</a:t>
            </a:r>
          </a:p>
          <a:p>
            <a:pPr algn="ctr"/>
            <a:r>
              <a:rPr lang="en-IN" sz="950" b="1">
                <a:solidFill>
                  <a:srgbClr val="BFDBFE"/>
                </a:solidFill>
                <a:latin typeface="Calibri" panose="020F0502020204030204" pitchFamily="34" charset="0"/>
              </a:rPr>
              <a:t>Unlocking ₹123.8 Cr Annual Bottom-Line Value Across TVS Credit's Rural Portfolio</a:t>
            </a:r>
          </a:p>
          <a:p>
            <a:pPr algn="ctr"/>
            <a:r>
              <a:rPr lang="en-IN" sz="850">
                <a:solidFill>
                  <a:srgbClr val="93C5FD"/>
                </a:solidFill>
                <a:latin typeface="Calibri" panose="020F0502020204030204" pitchFamily="34" charset="0"/>
              </a:rPr>
              <a:t>Transforming Unit Economics: 97% OpEx Compression, Sub-3-Minute Sanctions, and 125 bps GNPA Reduction via GeoKisan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3F0B016-378B-4C9D-A35D-C75B1EBAB6C8}"/>
              </a:ext>
            </a:extLst>
          </p:cNvPr>
          <p:cNvSpPr/>
          <p:nvPr/>
        </p:nvSpPr>
        <p:spPr>
          <a:xfrm>
            <a:off x="228600" y="990600"/>
            <a:ext cx="3124200" cy="279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CC8607-60A6-4AED-931A-5AC8E375CEF1}"/>
              </a:ext>
            </a:extLst>
          </p:cNvPr>
          <p:cNvSpPr/>
          <p:nvPr/>
        </p:nvSpPr>
        <p:spPr>
          <a:xfrm>
            <a:off x="304800" y="1066800"/>
            <a:ext cx="279400" cy="279400"/>
          </a:xfrm>
          <a:prstGeom prst="roundRect">
            <a:avLst/>
          </a:prstGeom>
          <a:solidFill>
            <a:srgbClr val="1E3A8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B1F2D8-B2F2-4E4A-9EC6-3F5EA9138C29}"/>
              </a:ext>
            </a:extLst>
          </p:cNvPr>
          <p:cNvSpPr txBox="1"/>
          <p:nvPr/>
        </p:nvSpPr>
        <p:spPr>
          <a:xfrm>
            <a:off x="635000" y="1041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1E3A8A"/>
                </a:solidFill>
                <a:latin typeface="Calibri" panose="020F0502020204030204" pitchFamily="34" charset="0"/>
              </a:rPr>
              <a:t>DEALERSHIP INTAKE</a:t>
            </a:r>
          </a:p>
          <a:p>
            <a:pPr algn="l"/>
            <a:r>
              <a:rPr lang="en-IN" sz="750">
                <a:solidFill>
                  <a:srgbClr val="64748B"/>
                </a:solidFill>
                <a:latin typeface="Calibri" panose="020F0502020204030204" pitchFamily="34" charset="0"/>
              </a:rPr>
              <a:t>Satellite Field Underwriting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C7CE78-4F44-43B4-82D9-5ABA72F29AFD}"/>
              </a:ext>
            </a:extLst>
          </p:cNvPr>
          <p:cNvSpPr txBox="1"/>
          <p:nvPr/>
        </p:nvSpPr>
        <p:spPr>
          <a:xfrm>
            <a:off x="304800" y="1422400"/>
            <a:ext cx="2971800" cy="9746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l"/>
            <a:r>
              <a:rPr lang="en-IN" sz="750" b="1">
                <a:solidFill>
                  <a:srgbClr val="0F172A"/>
                </a:solidFill>
                <a:latin typeface="Calibri" panose="020F0502020204030204" pitchFamily="34" charset="0"/>
              </a:rPr>
              <a:t>• SOC &amp; NDVI Scan: </a:t>
            </a:r>
            <a:r>
              <a:rPr lang="en-IN" sz="750">
                <a:solidFill>
                  <a:srgbClr val="0F172A"/>
                </a:solidFill>
                <a:latin typeface="Calibri" panose="020F0502020204030204" pitchFamily="34" charset="0"/>
              </a:rPr>
              <a:t>10m Sentinel-2 soil health + crop vigor scored in &lt; 40 seconds.</a:t>
            </a:r>
          </a:p>
          <a:p>
            <a:pPr algn="l"/>
            <a:r>
              <a:rPr lang="en-IN" sz="750" b="1">
                <a:solidFill>
                  <a:srgbClr val="0F172A"/>
                </a:solidFill>
                <a:latin typeface="Calibri" panose="020F0502020204030204" pitchFamily="34" charset="0"/>
              </a:rPr>
              <a:t>• Thin-File Override: </a:t>
            </a:r>
            <a:r>
              <a:rPr lang="en-IN" sz="750">
                <a:solidFill>
                  <a:srgbClr val="0F172A"/>
                </a:solidFill>
                <a:latin typeface="Calibri" panose="020F0502020204030204" pitchFamily="34" charset="0"/>
              </a:rPr>
              <a:t>Account Aggregator cashflow replaces CIBIL bureau — no floor score.</a:t>
            </a:r>
          </a:p>
          <a:p>
            <a:pPr algn="l"/>
            <a:r>
              <a:rPr lang="en-IN" sz="750" b="1">
                <a:solidFill>
                  <a:srgbClr val="0F172A"/>
                </a:solidFill>
                <a:latin typeface="Calibri" panose="020F0502020204030204" pitchFamily="34" charset="0"/>
              </a:rPr>
              <a:t>• H3 Cadastral Check: </a:t>
            </a:r>
            <a:r>
              <a:rPr lang="en-IN" sz="750">
                <a:solidFill>
                  <a:srgbClr val="0F172A"/>
                </a:solidFill>
                <a:latin typeface="Calibri" panose="020F0502020204030204" pitchFamily="34" charset="0"/>
              </a:rPr>
              <a:t>Satellite polygon flags duplicate multi-lender collateral pledges.</a:t>
            </a:r>
          </a:p>
          <a:p>
            <a:pPr algn="l"/>
            <a:r>
              <a:rPr lang="en-IN" sz="750" b="1">
                <a:solidFill>
                  <a:srgbClr val="0F172A"/>
                </a:solidFill>
                <a:latin typeface="Calibri" panose="020F0502020204030204" pitchFamily="34" charset="0"/>
              </a:rPr>
              <a:t>• Dealer Sanction: </a:t>
            </a:r>
            <a:r>
              <a:rPr lang="en-IN" sz="750">
                <a:solidFill>
                  <a:srgbClr val="0F172A"/>
                </a:solidFill>
                <a:latin typeface="Calibri" panose="020F0502020204030204" pitchFamily="34" charset="0"/>
              </a:rPr>
              <a:t>300–900 score delivered to dealer tablet; approval in &lt; 3 minutes.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F36BF1F-892B-47EB-9B56-8D9E70837429}"/>
              </a:ext>
            </a:extLst>
          </p:cNvPr>
          <p:cNvSpPr/>
          <p:nvPr/>
        </p:nvSpPr>
        <p:spPr>
          <a:xfrm>
            <a:off x="304800" y="3225800"/>
            <a:ext cx="2971800" cy="457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b="1">
                <a:solidFill>
                  <a:srgbClr val="92400E"/>
                </a:solidFill>
                <a:latin typeface="Calibri" panose="020F0502020204030204" pitchFamily="34" charset="0"/>
              </a:rPr>
              <a:t>💡 Saves ₹4,080/file vs ₹4,200 physical field officer cost (97% OpEx saving)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472170C-9B5A-469F-95B3-D475DD14AA5C}"/>
              </a:ext>
            </a:extLst>
          </p:cNvPr>
          <p:cNvSpPr/>
          <p:nvPr/>
        </p:nvSpPr>
        <p:spPr>
          <a:xfrm>
            <a:off x="3784600" y="990600"/>
            <a:ext cx="3124200" cy="279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54B0C87-6F54-4F00-B09E-A5E364DDE458}"/>
              </a:ext>
            </a:extLst>
          </p:cNvPr>
          <p:cNvSpPr/>
          <p:nvPr/>
        </p:nvSpPr>
        <p:spPr>
          <a:xfrm>
            <a:off x="3860800" y="1066800"/>
            <a:ext cx="279400" cy="279400"/>
          </a:xfrm>
          <a:prstGeom prst="roundRect">
            <a:avLst/>
          </a:prstGeom>
          <a:solidFill>
            <a:srgbClr val="1E3A8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2B754B-5168-49A9-B958-91CECAA2D15C}"/>
              </a:ext>
            </a:extLst>
          </p:cNvPr>
          <p:cNvSpPr txBox="1"/>
          <p:nvPr/>
        </p:nvSpPr>
        <p:spPr>
          <a:xfrm>
            <a:off x="4191000" y="1041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1E3A8A"/>
                </a:solidFill>
                <a:latin typeface="Calibri" panose="020F0502020204030204" pitchFamily="34" charset="0"/>
              </a:rPr>
              <a:t>MONSOON GESTATION</a:t>
            </a:r>
          </a:p>
          <a:p>
            <a:pPr algn="l"/>
            <a:r>
              <a:rPr lang="en-IN" sz="750">
                <a:solidFill>
                  <a:srgbClr val="64748B"/>
                </a:solidFill>
                <a:latin typeface="Calibri" panose="020F0502020204030204" pitchFamily="34" charset="0"/>
              </a:rPr>
              <a:t>All-Weather CloudGap-CG Monitoring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83A2BA-B23F-4F61-9CD2-255F6E1E1F08}"/>
              </a:ext>
            </a:extLst>
          </p:cNvPr>
          <p:cNvSpPr txBox="1"/>
          <p:nvPr/>
        </p:nvSpPr>
        <p:spPr>
          <a:xfrm>
            <a:off x="3860800" y="1422400"/>
            <a:ext cx="2971800" cy="9746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l"/>
            <a:r>
              <a:rPr lang="en-IN" sz="750" b="1">
                <a:solidFill>
                  <a:srgbClr val="0F172A"/>
                </a:solidFill>
                <a:latin typeface="Calibri" panose="020F0502020204030204" pitchFamily="34" charset="0"/>
              </a:rPr>
              <a:t>• CloudGap-CG Active (Jun–Oct): </a:t>
            </a:r>
            <a:r>
              <a:rPr lang="en-IN" sz="750">
                <a:solidFill>
                  <a:srgbClr val="0F172A"/>
                </a:solidFill>
                <a:latin typeface="Calibri" panose="020F0502020204030204" pitchFamily="34" charset="0"/>
              </a:rPr>
              <a:t>ST-DIP U-Net inpainting maintains 100% Kharif satellite visibility through 70–80% clouds.</a:t>
            </a:r>
          </a:p>
          <a:p>
            <a:pPr algn="l"/>
            <a:r>
              <a:rPr lang="en-IN" sz="750" b="1">
                <a:solidFill>
                  <a:srgbClr val="0F172A"/>
                </a:solidFill>
                <a:latin typeface="Calibri" panose="020F0502020204030204" pitchFamily="34" charset="0"/>
              </a:rPr>
              <a:t>• Fortnightly SAR Passes: </a:t>
            </a:r>
            <a:r>
              <a:rPr lang="en-IN" sz="750">
                <a:solidFill>
                  <a:srgbClr val="0F172A"/>
                </a:solidFill>
                <a:latin typeface="Calibri" panose="020F0502020204030204" pitchFamily="34" charset="0"/>
              </a:rPr>
              <a:t>Sentinel-2/1 NDVI + backscatter tracks crop health through blindspot.</a:t>
            </a:r>
          </a:p>
          <a:p>
            <a:pPr algn="l"/>
            <a:r>
              <a:rPr lang="en-IN" sz="750" b="1">
                <a:solidFill>
                  <a:srgbClr val="0F172A"/>
                </a:solidFill>
                <a:latin typeface="Calibri" panose="020F0502020204030204" pitchFamily="34" charset="0"/>
              </a:rPr>
              <a:t>• EWS Alerts: </a:t>
            </a:r>
            <a:r>
              <a:rPr lang="en-IN" sz="750">
                <a:solidFill>
                  <a:srgbClr val="0F172A"/>
                </a:solidFill>
                <a:latin typeface="Calibri" panose="020F0502020204030204" pitchFamily="34" charset="0"/>
              </a:rPr>
              <a:t>Flood, drought, or pest distress flags officers 14–21 days before EMI default.</a:t>
            </a:r>
          </a:p>
          <a:p>
            <a:pPr algn="l"/>
            <a:r>
              <a:rPr lang="en-IN" sz="750" b="1">
                <a:solidFill>
                  <a:srgbClr val="0F172A"/>
                </a:solidFill>
                <a:latin typeface="Calibri" panose="020F0502020204030204" pitchFamily="34" charset="0"/>
              </a:rPr>
              <a:t>• Lean EMI Active: </a:t>
            </a:r>
            <a:r>
              <a:rPr lang="en-IN" sz="750">
                <a:solidFill>
                  <a:srgbClr val="0F172A"/>
                </a:solidFill>
                <a:latin typeface="Calibri" panose="020F0502020204030204" pitchFamily="34" charset="0"/>
              </a:rPr>
              <a:t>Borrower pays ₹1,500/mo maintenance — zero sowing pressure.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A2C62F5-92BA-4494-A46A-5A3074574FAC}"/>
              </a:ext>
            </a:extLst>
          </p:cNvPr>
          <p:cNvSpPr/>
          <p:nvPr/>
        </p:nvSpPr>
        <p:spPr>
          <a:xfrm>
            <a:off x="3860800" y="3225800"/>
            <a:ext cx="2971800" cy="457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b="1">
                <a:solidFill>
                  <a:srgbClr val="92400E"/>
                </a:solidFill>
                <a:latin typeface="Calibri" panose="020F0502020204030204" pitchFamily="34" charset="0"/>
              </a:rPr>
              <a:t>💡 Zero Kharif underwriting pause — incumbent NBFCs halt for 4+ months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0E7D5DD-5A37-49D0-B101-F351B6BEEAE9}"/>
              </a:ext>
            </a:extLst>
          </p:cNvPr>
          <p:cNvSpPr/>
          <p:nvPr/>
        </p:nvSpPr>
        <p:spPr>
          <a:xfrm>
            <a:off x="7340600" y="990600"/>
            <a:ext cx="3124200" cy="279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EB8C5C9-2993-48F5-8B1A-9430B8A3B5D7}"/>
              </a:ext>
            </a:extLst>
          </p:cNvPr>
          <p:cNvSpPr/>
          <p:nvPr/>
        </p:nvSpPr>
        <p:spPr>
          <a:xfrm>
            <a:off x="7416800" y="1066800"/>
            <a:ext cx="279400" cy="279400"/>
          </a:xfrm>
          <a:prstGeom prst="roundRect">
            <a:avLst/>
          </a:prstGeom>
          <a:solidFill>
            <a:srgbClr val="1E3A8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CEBAFE-7FD3-4F1E-BB81-A9C83E0642C0}"/>
              </a:ext>
            </a:extLst>
          </p:cNvPr>
          <p:cNvSpPr txBox="1"/>
          <p:nvPr/>
        </p:nvSpPr>
        <p:spPr>
          <a:xfrm>
            <a:off x="7747000" y="1041400"/>
            <a:ext cx="266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l"/>
            <a:r>
              <a:rPr lang="en-IN" sz="1050" b="1">
                <a:solidFill>
                  <a:srgbClr val="1E3A8A"/>
                </a:solidFill>
                <a:latin typeface="Calibri" panose="020F0502020204030204" pitchFamily="34" charset="0"/>
              </a:rPr>
              <a:t>HARVEST REALIZATION</a:t>
            </a:r>
          </a:p>
          <a:p>
            <a:pPr algn="l"/>
            <a:r>
              <a:rPr lang="en-IN" sz="750">
                <a:solidFill>
                  <a:srgbClr val="64748B"/>
                </a:solidFill>
                <a:latin typeface="Calibri" panose="020F0502020204030204" pitchFamily="34" charset="0"/>
              </a:rPr>
              <a:t>Yield-Synced Bullet Repayment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06F25F-80EC-4C9F-A191-DE1061C7656F}"/>
              </a:ext>
            </a:extLst>
          </p:cNvPr>
          <p:cNvSpPr txBox="1"/>
          <p:nvPr/>
        </p:nvSpPr>
        <p:spPr>
          <a:xfrm>
            <a:off x="7416800" y="1422400"/>
            <a:ext cx="2971800" cy="97462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l"/>
            <a:r>
              <a:rPr lang="en-IN" sz="750" b="1">
                <a:solidFill>
                  <a:srgbClr val="0F172A"/>
                </a:solidFill>
                <a:latin typeface="Calibri" panose="020F0502020204030204" pitchFamily="34" charset="0"/>
              </a:rPr>
              <a:t>• WOFOST Yield Forecast: </a:t>
            </a:r>
            <a:r>
              <a:rPr lang="en-IN" sz="750">
                <a:solidFill>
                  <a:srgbClr val="0F172A"/>
                </a:solidFill>
                <a:latin typeface="Calibri" panose="020F0502020204030204" pitchFamily="34" charset="0"/>
              </a:rPr>
              <a:t>Satellite crop model predicts Mandi revenue before harvest date.</a:t>
            </a:r>
          </a:p>
          <a:p>
            <a:pPr algn="l"/>
            <a:r>
              <a:rPr lang="en-IN" sz="750" b="1">
                <a:solidFill>
                  <a:srgbClr val="0F172A"/>
                </a:solidFill>
                <a:latin typeface="Calibri" panose="020F0502020204030204" pitchFamily="34" charset="0"/>
              </a:rPr>
              <a:t>• Harvest Bullet Payment: </a:t>
            </a:r>
            <a:r>
              <a:rPr lang="en-IN" sz="750">
                <a:solidFill>
                  <a:srgbClr val="0F172A"/>
                </a:solidFill>
                <a:latin typeface="Calibri" panose="020F0502020204030204" pitchFamily="34" charset="0"/>
              </a:rPr>
              <a:t>Major instalment synced with Mandi sale receipt from actual crop income.</a:t>
            </a:r>
          </a:p>
          <a:p>
            <a:pPr algn="l"/>
            <a:r>
              <a:rPr lang="en-IN" sz="750" b="1">
                <a:solidFill>
                  <a:srgbClr val="0F172A"/>
                </a:solidFill>
                <a:latin typeface="Calibri" panose="020F0502020204030204" pitchFamily="34" charset="0"/>
              </a:rPr>
              <a:t>• Sanction Letter: </a:t>
            </a:r>
            <a:r>
              <a:rPr lang="en-IN" sz="750">
                <a:solidFill>
                  <a:srgbClr val="0F172A"/>
                </a:solidFill>
                <a:latin typeface="Calibri" panose="020F0502020204030204" pitchFamily="34" charset="0"/>
              </a:rPr>
              <a:t>TreeSHAP memo auto-generated in Hindi/Chhattisgarhi/English.</a:t>
            </a:r>
          </a:p>
          <a:p>
            <a:pPr algn="l"/>
            <a:r>
              <a:rPr lang="en-IN" sz="750" b="1">
                <a:solidFill>
                  <a:srgbClr val="0F172A"/>
                </a:solidFill>
                <a:latin typeface="Calibri" panose="020F0502020204030204" pitchFamily="34" charset="0"/>
              </a:rPr>
              <a:t>• Fast-Track Restructuring: </a:t>
            </a:r>
            <a:r>
              <a:rPr lang="en-IN" sz="750">
                <a:solidFill>
                  <a:srgbClr val="0F172A"/>
                </a:solidFill>
                <a:latin typeface="Calibri" panose="020F0502020204030204" pitchFamily="34" charset="0"/>
              </a:rPr>
              <a:t>60-day deferral opens automatically if NDVI drops &gt;15% mid-season.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3F225C9-BC1F-461D-9B30-89EB1754E649}"/>
              </a:ext>
            </a:extLst>
          </p:cNvPr>
          <p:cNvSpPr/>
          <p:nvPr/>
        </p:nvSpPr>
        <p:spPr>
          <a:xfrm>
            <a:off x="7416800" y="3225800"/>
            <a:ext cx="2971800" cy="457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 b="1">
                <a:solidFill>
                  <a:srgbClr val="92400E"/>
                </a:solidFill>
                <a:latin typeface="Calibri" panose="020F0502020204030204" pitchFamily="34" charset="0"/>
              </a:rPr>
              <a:t>💡 34.5% reduction in 90-day NPAs vs industry flat EMI model</a:t>
            </a: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70EC837-BB2F-499F-A171-758A90FA39AF}"/>
              </a:ext>
            </a:extLst>
          </p:cNvPr>
          <p:cNvSpPr/>
          <p:nvPr/>
        </p:nvSpPr>
        <p:spPr>
          <a:xfrm>
            <a:off x="3403600" y="2235200"/>
            <a:ext cx="304800" cy="279400"/>
          </a:xfrm>
          <a:prstGeom prst="rightArrow">
            <a:avLst/>
          </a:prstGeom>
          <a:solidFill>
            <a:srgbClr val="1E3A8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6D4C4535-A94B-46C3-80A0-6FA0D61A62EA}"/>
              </a:ext>
            </a:extLst>
          </p:cNvPr>
          <p:cNvSpPr/>
          <p:nvPr/>
        </p:nvSpPr>
        <p:spPr>
          <a:xfrm>
            <a:off x="6959600" y="2235200"/>
            <a:ext cx="304800" cy="279400"/>
          </a:xfrm>
          <a:prstGeom prst="rightArrow">
            <a:avLst/>
          </a:prstGeom>
          <a:solidFill>
            <a:srgbClr val="1E3A8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073D04E-3219-402E-B0F8-B92077B330C2}"/>
              </a:ext>
            </a:extLst>
          </p:cNvPr>
          <p:cNvSpPr/>
          <p:nvPr/>
        </p:nvSpPr>
        <p:spPr>
          <a:xfrm>
            <a:off x="228600" y="3860800"/>
            <a:ext cx="10236200" cy="279400"/>
          </a:xfrm>
          <a:prstGeom prst="roundRect">
            <a:avLst/>
          </a:prstGeom>
          <a:solidFill>
            <a:srgbClr val="E2E8F0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50" b="1">
                <a:solidFill>
                  <a:srgbClr val="1E3A8A"/>
                </a:solidFill>
                <a:latin typeface="Calibri" panose="020F0502020204030204" pitchFamily="34" charset="0"/>
              </a:rPr>
              <a:t>GEOKISAN LOAN JOURNEY:   [ 01. DEALER INTAKE ]  ⟶  [ 02. MONSOON MONITORING ]  ⟶  [ 03. HARVEST REPAYMENT ]</a:t>
            </a:r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59321EC0-8CEA-4042-A5CF-6A5460113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251906"/>
              </p:ext>
            </p:extLst>
          </p:nvPr>
        </p:nvGraphicFramePr>
        <p:xfrm>
          <a:off x="228599" y="4191000"/>
          <a:ext cx="102362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1445548834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2860288188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2579825648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404787212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IN" sz="8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Dimension</a:t>
                      </a:r>
                    </a:p>
                  </a:txBody>
                  <a:tcPr marL="50800" marR="50800" marT="38100" marB="381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1">
                          <a:solidFill>
                            <a:srgbClr val="DC2626"/>
                          </a:solidFill>
                          <a:latin typeface="Calibri" panose="020F0502020204030204" pitchFamily="34" charset="0"/>
                        </a:rPr>
                        <a:t>✗ Traditional NBFCs</a:t>
                      </a:r>
                    </a:p>
                    <a:p>
                      <a:pPr algn="ctr"/>
                      <a:r>
                        <a:rPr lang="en-IN" sz="800" b="1">
                          <a:solidFill>
                            <a:srgbClr val="DC2626"/>
                          </a:solidFill>
                          <a:latin typeface="Calibri" panose="020F0502020204030204" pitchFamily="34" charset="0"/>
                        </a:rPr>
                        <a:t>(Mahindra / Shriram / Chola)</a:t>
                      </a:r>
                    </a:p>
                  </a:txBody>
                  <a:tcPr marL="50800" marR="50800" marT="38100" marB="38100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1">
                          <a:solidFill>
                            <a:srgbClr val="B45309"/>
                          </a:solidFill>
                          <a:latin typeface="Calibri" panose="020F0502020204030204" pitchFamily="34" charset="0"/>
                        </a:rPr>
                        <a:t>⚠ Current TVS Credit</a:t>
                      </a:r>
                    </a:p>
                    <a:p>
                      <a:pPr algn="ctr"/>
                      <a:r>
                        <a:rPr lang="en-IN" sz="800" b="1">
                          <a:solidFill>
                            <a:srgbClr val="B45309"/>
                          </a:solidFill>
                          <a:latin typeface="Calibri" panose="020F0502020204030204" pitchFamily="34" charset="0"/>
                        </a:rPr>
                        <a:t>(Baseline Operations)</a:t>
                      </a:r>
                    </a:p>
                  </a:txBody>
                  <a:tcPr marL="50800" marR="50800" marT="38100" marB="38100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✓ GeoKisan (TVS Credit)</a:t>
                      </a:r>
                    </a:p>
                    <a:p>
                      <a:pPr algn="ctr"/>
                      <a:r>
                        <a:rPr lang="en-IN" sz="85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(Our Platform — Moat)</a:t>
                      </a:r>
                    </a:p>
                  </a:txBody>
                  <a:tcPr marL="50800" marR="50800" marT="38100" marB="38100">
                    <a:solidFill>
                      <a:srgbClr val="16A3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5662938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IN" sz="8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Eligibility</a:t>
                      </a:r>
                    </a:p>
                  </a:txBody>
                  <a:tcPr marL="50800" marR="50800" marT="38100" marB="381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</a:rPr>
                        <a:t>✗ CIBIL ≥ 650 mandatory</a:t>
                      </a:r>
                    </a:p>
                    <a:p>
                      <a:pPr algn="l"/>
                      <a:r>
                        <a:rPr lang="en-IN" sz="750" b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</a:rPr>
                        <a:t>✗ Excludes 65%+ smallholders</a:t>
                      </a:r>
                    </a:p>
                  </a:txBody>
                  <a:tcPr marL="50800" marR="50800" marT="38100" marB="38100"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0">
                          <a:solidFill>
                            <a:srgbClr val="B45309"/>
                          </a:solidFill>
                          <a:latin typeface="Calibri" panose="020F0502020204030204" pitchFamily="34" charset="0"/>
                        </a:rPr>
                        <a:t>⚠ Manual thin-file review</a:t>
                      </a:r>
                    </a:p>
                    <a:p>
                      <a:pPr algn="l"/>
                      <a:r>
                        <a:rPr lang="en-IN" sz="750" b="0">
                          <a:solidFill>
                            <a:srgbClr val="B45309"/>
                          </a:solidFill>
                          <a:latin typeface="Calibri" panose="020F0502020204030204" pitchFamily="34" charset="0"/>
                        </a:rPr>
                        <a:t>⚠ Physical visit required</a:t>
                      </a:r>
                    </a:p>
                  </a:txBody>
                  <a:tcPr marL="50800" marR="50800" marT="38100" marB="38100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1">
                          <a:solidFill>
                            <a:srgbClr val="14532D"/>
                          </a:solidFill>
                          <a:latin typeface="Calibri" panose="020F0502020204030204" pitchFamily="34" charset="0"/>
                        </a:rPr>
                        <a:t>✓ Satellite SOC + Account Aggregator</a:t>
                      </a:r>
                    </a:p>
                    <a:p>
                      <a:pPr algn="l"/>
                      <a:r>
                        <a:rPr lang="en-IN" sz="750" b="1">
                          <a:solidFill>
                            <a:srgbClr val="14532D"/>
                          </a:solidFill>
                          <a:latin typeface="Calibri" panose="020F0502020204030204" pitchFamily="34" charset="0"/>
                        </a:rPr>
                        <a:t>✓ No CIBIL floor — zero exclusion</a:t>
                      </a:r>
                    </a:p>
                  </a:txBody>
                  <a:tcPr marL="50800" marR="50800" marT="38100" marB="38100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428629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IN" sz="8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Speed (TAT)</a:t>
                      </a:r>
                    </a:p>
                  </a:txBody>
                  <a:tcPr marL="50800" marR="50800" marT="38100" marB="381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</a:rPr>
                        <a:t>✗ 5–10 business days</a:t>
                      </a:r>
                    </a:p>
                    <a:p>
                      <a:pPr algn="l"/>
                      <a:r>
                        <a:rPr lang="en-IN" sz="750" b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</a:rPr>
                        <a:t>✗ Field officer bottleneck</a:t>
                      </a:r>
                    </a:p>
                  </a:txBody>
                  <a:tcPr marL="50800" marR="50800" marT="38100" marB="38100"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0">
                          <a:solidFill>
                            <a:srgbClr val="B45309"/>
                          </a:solidFill>
                          <a:latin typeface="Calibri" panose="020F0502020204030204" pitchFamily="34" charset="0"/>
                        </a:rPr>
                        <a:t>⚠ 7–10 days field visit</a:t>
                      </a:r>
                    </a:p>
                    <a:p>
                      <a:pPr algn="l"/>
                      <a:r>
                        <a:rPr lang="en-IN" sz="750" b="0">
                          <a:solidFill>
                            <a:srgbClr val="B45309"/>
                          </a:solidFill>
                          <a:latin typeface="Calibri" panose="020F0502020204030204" pitchFamily="34" charset="0"/>
                        </a:rPr>
                        <a:t>⚠ Manual underwriting</a:t>
                      </a:r>
                    </a:p>
                  </a:txBody>
                  <a:tcPr marL="50800" marR="50800" marT="38100" marB="38100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1">
                          <a:solidFill>
                            <a:srgbClr val="14532D"/>
                          </a:solidFill>
                          <a:latin typeface="Calibri" panose="020F0502020204030204" pitchFamily="34" charset="0"/>
                        </a:rPr>
                        <a:t>✓ &lt; 3 Minutes automated</a:t>
                      </a:r>
                    </a:p>
                    <a:p>
                      <a:pPr algn="l"/>
                      <a:r>
                        <a:rPr lang="en-IN" sz="750" b="1">
                          <a:solidFill>
                            <a:srgbClr val="14532D"/>
                          </a:solidFill>
                          <a:latin typeface="Calibri" panose="020F0502020204030204" pitchFamily="34" charset="0"/>
                        </a:rPr>
                        <a:t>✓ Same-day dealer sanction</a:t>
                      </a:r>
                    </a:p>
                  </a:txBody>
                  <a:tcPr marL="50800" marR="50800" marT="38100" marB="38100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215196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IN" sz="8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Kharif Uptime</a:t>
                      </a:r>
                    </a:p>
                  </a:txBody>
                  <a:tcPr marL="50800" marR="50800" marT="38100" marB="381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</a:rPr>
                        <a:t>✗ Halts Jun–Oct (cloud blind)</a:t>
                      </a:r>
                    </a:p>
                    <a:p>
                      <a:pPr algn="l"/>
                      <a:r>
                        <a:rPr lang="en-IN" sz="750" b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</a:rPr>
                        <a:t>✗ 60% of farm loans mis-timed</a:t>
                      </a:r>
                    </a:p>
                  </a:txBody>
                  <a:tcPr marL="50800" marR="50800" marT="38100" marB="38100"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0">
                          <a:solidFill>
                            <a:srgbClr val="B45309"/>
                          </a:solidFill>
                          <a:latin typeface="Calibri" panose="020F0502020204030204" pitchFamily="34" charset="0"/>
                        </a:rPr>
                        <a:t>⚠ Halts Kharif season</a:t>
                      </a:r>
                    </a:p>
                    <a:p>
                      <a:pPr algn="l"/>
                      <a:r>
                        <a:rPr lang="en-IN" sz="750" b="0">
                          <a:solidFill>
                            <a:srgbClr val="B45309"/>
                          </a:solidFill>
                          <a:latin typeface="Calibri" panose="020F0502020204030204" pitchFamily="34" charset="0"/>
                        </a:rPr>
                        <a:t>⚠ No SAR fallback</a:t>
                      </a:r>
                    </a:p>
                  </a:txBody>
                  <a:tcPr marL="50800" marR="50800" marT="38100" marB="38100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1">
                          <a:solidFill>
                            <a:srgbClr val="14532D"/>
                          </a:solidFill>
                          <a:latin typeface="Calibri" panose="020F0502020204030204" pitchFamily="34" charset="0"/>
                        </a:rPr>
                        <a:t>✓ 100% uptime via CloudGap-CG</a:t>
                      </a:r>
                    </a:p>
                    <a:p>
                      <a:pPr algn="l"/>
                      <a:r>
                        <a:rPr lang="en-IN" sz="750" b="1">
                          <a:solidFill>
                            <a:srgbClr val="14532D"/>
                          </a:solidFill>
                          <a:latin typeface="Calibri" panose="020F0502020204030204" pitchFamily="34" charset="0"/>
                        </a:rPr>
                        <a:t>✓ PSNR 34.6 dB inpainting</a:t>
                      </a:r>
                    </a:p>
                  </a:txBody>
                  <a:tcPr marL="50800" marR="50800" marT="38100" marB="38100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8783689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IN" sz="8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Repayment</a:t>
                      </a:r>
                    </a:p>
                  </a:txBody>
                  <a:tcPr marL="50800" marR="50800" marT="38100" marB="381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</a:rPr>
                        <a:t>✗ Flat monthly EMI</a:t>
                      </a:r>
                    </a:p>
                    <a:p>
                      <a:pPr algn="l"/>
                      <a:r>
                        <a:rPr lang="en-IN" sz="750" b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</a:rPr>
                        <a:t>✗ ~7.2% Agri 90-day NPA</a:t>
                      </a:r>
                    </a:p>
                  </a:txBody>
                  <a:tcPr marL="50800" marR="50800" marT="38100" marB="38100"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0">
                          <a:solidFill>
                            <a:srgbClr val="B45309"/>
                          </a:solidFill>
                          <a:latin typeface="Calibri" panose="020F0502020204030204" pitchFamily="34" charset="0"/>
                        </a:rPr>
                        <a:t>⚠ Flat EMI structure</a:t>
                      </a:r>
                    </a:p>
                    <a:p>
                      <a:pPr algn="l"/>
                      <a:r>
                        <a:rPr lang="en-IN" sz="750" b="0">
                          <a:solidFill>
                            <a:srgbClr val="B45309"/>
                          </a:solidFill>
                          <a:latin typeface="Calibri" panose="020F0502020204030204" pitchFamily="34" charset="0"/>
                        </a:rPr>
                        <a:t>⚠ Liquidity mismatch at sowing</a:t>
                      </a:r>
                    </a:p>
                  </a:txBody>
                  <a:tcPr marL="50800" marR="50800" marT="38100" marB="38100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1">
                          <a:solidFill>
                            <a:srgbClr val="14532D"/>
                          </a:solidFill>
                          <a:latin typeface="Calibri" panose="020F0502020204030204" pitchFamily="34" charset="0"/>
                        </a:rPr>
                        <a:t>✓ ₹1,500 lean + harvest bullet</a:t>
                      </a:r>
                    </a:p>
                    <a:p>
                      <a:pPr algn="l"/>
                      <a:r>
                        <a:rPr lang="en-IN" sz="750" b="1">
                          <a:solidFill>
                            <a:srgbClr val="14532D"/>
                          </a:solidFill>
                          <a:latin typeface="Calibri" panose="020F0502020204030204" pitchFamily="34" charset="0"/>
                        </a:rPr>
                        <a:t>✓ 34.5% NPA reduction</a:t>
                      </a:r>
                    </a:p>
                  </a:txBody>
                  <a:tcPr marL="50800" marR="50800" marT="38100" marB="38100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611096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lang="en-IN" sz="8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Collateral Cost</a:t>
                      </a:r>
                    </a:p>
                  </a:txBody>
                  <a:tcPr marL="50800" marR="50800" marT="38100" marB="381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</a:rPr>
                        <a:t>✗ Physical inspection ₹4,200/file</a:t>
                      </a:r>
                    </a:p>
                    <a:p>
                      <a:pPr algn="l"/>
                      <a:r>
                        <a:rPr lang="en-IN" sz="750" b="0">
                          <a:solidFill>
                            <a:srgbClr val="DC2626"/>
                          </a:solidFill>
                          <a:latin typeface="Calibri" panose="020F0502020204030204" pitchFamily="34" charset="0"/>
                        </a:rPr>
                        <a:t>✗ 7–10 days, fraud-vulnerable</a:t>
                      </a:r>
                    </a:p>
                  </a:txBody>
                  <a:tcPr marL="50800" marR="50800" marT="38100" marB="38100"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0">
                          <a:solidFill>
                            <a:srgbClr val="B45309"/>
                          </a:solidFill>
                          <a:latin typeface="Calibri" panose="020F0502020204030204" pitchFamily="34" charset="0"/>
                        </a:rPr>
                        <a:t>⚠ Physical inspection ₹4,200/file</a:t>
                      </a:r>
                    </a:p>
                    <a:p>
                      <a:pPr algn="l"/>
                      <a:r>
                        <a:rPr lang="en-IN" sz="750" b="0">
                          <a:solidFill>
                            <a:srgbClr val="B45309"/>
                          </a:solidFill>
                          <a:latin typeface="Calibri" panose="020F0502020204030204" pitchFamily="34" charset="0"/>
                        </a:rPr>
                        <a:t>⚠ Ghost land &amp; duplicate risk</a:t>
                      </a:r>
                    </a:p>
                  </a:txBody>
                  <a:tcPr marL="50800" marR="50800" marT="38100" marB="38100">
                    <a:solidFill>
                      <a:srgbClr val="FFFD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750" b="1">
                          <a:solidFill>
                            <a:srgbClr val="14532D"/>
                          </a:solidFill>
                          <a:latin typeface="Calibri" panose="020F0502020204030204" pitchFamily="34" charset="0"/>
                        </a:rPr>
                        <a:t>✓ AI H3 + satellite ₹120/file</a:t>
                      </a:r>
                    </a:p>
                    <a:p>
                      <a:pPr algn="l"/>
                      <a:r>
                        <a:rPr lang="en-IN" sz="750" b="1">
                          <a:solidFill>
                            <a:srgbClr val="14532D"/>
                          </a:solidFill>
                          <a:latin typeface="Calibri" panose="020F0502020204030204" pitchFamily="34" charset="0"/>
                        </a:rPr>
                        <a:t>✓ 97% OpEx saving · fraud-proof</a:t>
                      </a:r>
                    </a:p>
                  </a:txBody>
                  <a:tcPr marL="50800" marR="50800" marT="38100" marB="38100"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52050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1B7A1A98-7A55-40EC-A4BA-8A48E22D4F91}"/>
              </a:ext>
            </a:extLst>
          </p:cNvPr>
          <p:cNvSpPr/>
          <p:nvPr/>
        </p:nvSpPr>
        <p:spPr>
          <a:xfrm>
            <a:off x="0" y="7213600"/>
            <a:ext cx="10693400" cy="342900"/>
          </a:xfrm>
          <a:prstGeom prst="rect">
            <a:avLst/>
          </a:prstGeom>
          <a:solidFill>
            <a:srgbClr val="1E3A8A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750">
                <a:solidFill>
                  <a:srgbClr val="BFDBFE"/>
                </a:solidFill>
                <a:latin typeface="Calibri" panose="020F0502020204030204" pitchFamily="34" charset="0"/>
              </a:rPr>
              <a:t>GeoKisan eliminates the Kharif cloud blindspot forcing every incumbent NBFC to pause underwriting — turning monsoon season from a liability into a portfolio growth window | GNPA Impact: −125 bps vs industry benchmark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89336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Business Impact &amp; Financial ROI for TVS Credit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TVS Credit E.P.I.C 8 — Round 2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TVS Credit Services Limited · Confidential · Problem Statement (c) AI-Powered Smart Lending 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448056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₹29.1 Crores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Capital Loss Prevented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Stress testing against a -30% rainfall drought proves proactive restructuring protects ₹29.1 Cr in book value across TVS Credit's ₹1,250 Cr agri portfolio.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463040"/>
            <a:ext cx="448056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&lt; 3 Minutes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Turnaround Time (TAT)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Replaces 7-10 days of physical field officer visits with automated satellite soil underwriting, enabling same-day dealer sanction.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448056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34.5%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Default Reduction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Seasonally-aligned harvest bullet EMIs prevent liquidity-driven technical defaults during the critical 4-month crop-growing 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114800"/>
            <a:ext cx="448056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t>14-21 Days</a:t>
            </a:r>
          </a:p>
          <a:p>
            <a:pPr>
              <a:defRPr sz="1300" b="1">
                <a:solidFill>
                  <a:srgbClr val="1E3A8A"/>
                </a:solidFill>
              </a:defRPr>
            </a:pPr>
            <a:r>
              <a:t>Early Warning (EWS) Lead Time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Fortnightly Sentinel-2/1 passes alert field officers of flood or pest distress weeks before the borrower defaults on an EMI.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689336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Working Demonstration, Deployment &amp; Open-Source Citations</a:t>
            </a:r>
          </a:p>
          <a:p>
            <a:pPr>
              <a:defRPr sz="1100">
                <a:solidFill>
                  <a:srgbClr val="BFDBFE"/>
                </a:solidFill>
              </a:defRPr>
            </a:pPr>
            <a:r>
              <a:t>TVS Credit E.P.I.C 8 — Round 2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TVS Credit Services Limited · Confidential · Problem Statement (c) AI-Powered Smart Lending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572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Live Verification &amp; Execution: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Local Cockpit: Run 'python run_demo.py' -&gt; http://127.0.0.1:8000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Automated Test Suite: 'python test_hub.py' passes 100% Green across all 6 test suites.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Interactive Cockpit: Underwriting form, 300-900 score meter, SHAP waterfall, What-If simulator, and Voice Agent.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Deployed Prototypes: Climate-Saathi (climate-saathi-2.vercel.app) &amp; Vayu-AI (vayu-ai-eosin.vercel.app).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371600"/>
            <a:ext cx="4480560" cy="50292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Academic &amp; Open-Source Citations: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1. Uber H3 (Apache 2.0): Isaacman et al., Hexagonal Hierarchical Spatial Index (2018).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2. SAM-Geo (MIT): Wu &amp; Osco, Segment Anything for Geospatial (JOSS 2023).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3. DSen2-CR (ISPRS Helava Award): Meraner et al., SAR-Optical Cloud Removal (2020).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4. DiffCR (Apache 2.0): Zou et al., Diffusion Cloud Removal (IEEE TGRS 2024).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5. OptBinning (Apache 2.0): Navas-Palencia, Mathematical Programming Discretization (2020).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6. TreeSHAP (MIT): Lundberg et al., Nature Machine Intelligence (2020).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7. AI4Bharat (MIT): Diddee et al., IndicVoices Multilingual Speech (2024).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1740</Words>
  <Application>Microsoft Office PowerPoint</Application>
  <PresentationFormat>Custom</PresentationFormat>
  <Paragraphs>162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ADITYA KUMAR</cp:lastModifiedBy>
  <cp:revision>1</cp:revision>
  <dcterms:created xsi:type="dcterms:W3CDTF">2026-08-25T08:54:20Z</dcterms:created>
  <dcterms:modified xsi:type="dcterms:W3CDTF">2026-09-06T06:18:50Z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v10.0.20070.1</vt:lpwstr>
  </property>
  <property fmtid="{D5CDD505-2E9C-101B-9397-08002B2CF9AE}" pid="3" name="Created">
    <vt:filetime>2026-08-25T00:00:00Z</vt:filetime>
  </property>
  <property fmtid="{D5CDD505-2E9C-101B-9397-08002B2CF9AE}" pid="4" name="LastSaved">
    <vt:filetime>2026-08-25T00:00:00Z</vt:filetime>
  </property>
  <property fmtid="{D5CDD505-2E9C-101B-9397-08002B2CF9AE}" pid="5" name="Producer">
    <vt:lpwstr>3-Heights(TM) PDF Security Shell 4.8.25.2 (http://www.pdf-tools.com)</vt:lpwstr>
  </property>
</Properties>
</file>